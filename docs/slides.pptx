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>
                <a:solidFill>
                  <a:srgbClr val="1A1A2E"/>
                </a:solidFill>
              </a:defRPr>
            </a:pPr>
            <a:r>
              <a:t>Predicting Customer Order Value</a:t>
            </a:r>
          </a:p>
          <a:p>
            <a:r>
              <a:t>for an E-Commerce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0096D6"/>
                </a:solidFill>
              </a:defRPr>
            </a:pPr>
            <a:r>
              <a:t>Business Analytics — Final Project</a:t>
            </a:r>
          </a:p>
          <a:p>
            <a:r>
              <a:t>XGBoost R²=0.70 | 180 Features | 43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Business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Given a customer's profile and current browsing/cart behavior,</a:t>
            </a:r>
          </a:p>
          <a:p>
            <a:pPr>
              <a:defRPr sz="2000"/>
            </a:pPr>
            <a:r>
              <a:t>what is the expected value of this order?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it matters:</a:t>
            </a:r>
          </a:p>
          <a:p>
            <a:pPr>
              <a:defRPr sz="2000"/>
            </a:pPr>
            <a:r>
              <a:t>• Dynamic upsell recommendations at checkout</a:t>
            </a:r>
          </a:p>
          <a:p>
            <a:pPr>
              <a:defRPr sz="2000"/>
            </a:pPr>
            <a:r>
              <a:t>• Optimized shipping &amp; insurance options</a:t>
            </a:r>
          </a:p>
          <a:p>
            <a:pPr>
              <a:defRPr sz="2000"/>
            </a:pPr>
            <a:r>
              <a:t>• Targeted promotions by predicted value tier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Data: Olist Brazilian E-Commerce (99K orders)</a:t>
            </a:r>
          </a:p>
          <a:p>
            <a:pPr>
              <a:defRPr sz="2000"/>
            </a:pPr>
            <a:r>
              <a:t>+ Synthetic behavioral data (96K profiles, 99K sessions, 764K events)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Data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Olist Base Tables (Real)          Synthetic Extension (Generated)</a:t>
            </a:r>
          </a:p>
          <a:p>
            <a:pPr>
              <a:defRPr sz="2000"/>
            </a:pPr>
            <a:r>
              <a:t>┌─────────────────────┐          ┌──────────────────────────┐</a:t>
            </a:r>
          </a:p>
          <a:p>
            <a:pPr>
              <a:defRPr sz="2000"/>
            </a:pPr>
            <a:r>
              <a:t>│ orders (99K)        │          │ customer_profile (96K)   │</a:t>
            </a:r>
          </a:p>
          <a:p>
            <a:pPr>
              <a:defRPr sz="2000"/>
            </a:pPr>
            <a:r>
              <a:t>│ order_items (112K)  │──────┐   │ sessions (99K)           │</a:t>
            </a:r>
          </a:p>
          <a:p>
            <a:pPr>
              <a:defRPr sz="2000"/>
            </a:pPr>
            <a:r>
              <a:t>│ customers (99K)     │    │   │ session_activity (764K)  │</a:t>
            </a:r>
          </a:p>
          <a:p>
            <a:pPr>
              <a:defRPr sz="2000"/>
            </a:pPr>
            <a:r>
              <a:t>│ products (32K)      │    │   └──────────────────────────┘</a:t>
            </a:r>
          </a:p>
          <a:p>
            <a:pPr>
              <a:defRPr sz="2000"/>
            </a:pPr>
            <a:r>
              <a:t>│ sellers (3K)        │    │              │</a:t>
            </a:r>
          </a:p>
          <a:p>
            <a:pPr>
              <a:defRPr sz="2000"/>
            </a:pPr>
            <a:r>
              <a:t>│ geolocation (1M)    │    │   Value-conditioned generation:</a:t>
            </a:r>
          </a:p>
          <a:p>
            <a:pPr>
              <a:defRPr sz="2000"/>
            </a:pPr>
            <a:r>
              <a:t>│ payments (103K)     │    │   features correlated with real</a:t>
            </a:r>
          </a:p>
          <a:p>
            <a:pPr>
              <a:defRPr sz="2000"/>
            </a:pPr>
            <a:r>
              <a:t>│ reviews (104K)      │    │   order value (not random noise)</a:t>
            </a:r>
          </a:p>
          <a:p>
            <a:pPr>
              <a:defRPr sz="2000"/>
            </a:pPr>
            <a:r>
              <a:t>└─────────────────────┘    │</a:t>
            </a:r>
          </a:p>
          <a:p>
            <a:pPr>
              <a:defRPr sz="2000"/>
            </a:pPr>
            <a:r>
              <a:t>                           └──→ 180 features after engineering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Key Innovation: Value-Conditioned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Problem: Random synthetic features → zero correlation → model ignores them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Solution: Condition every feature on real order value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monthly_income = exp(log(2500) + 0.35 × zscore(log(value)) + noise)</a:t>
            </a:r>
          </a:p>
          <a:p>
            <a:pPr>
              <a:defRPr sz="2000"/>
            </a:pPr>
            <a:r>
              <a:t>  → r = 0.51 with avg order value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loyalty_tier: probabilities shift toward gold/platinum for high-value</a:t>
            </a:r>
          </a:p>
          <a:p>
            <a:pPr>
              <a:defRPr sz="2000"/>
            </a:pPr>
            <a:r>
              <a:t>  → 2.5× AOV spread (bronze R$82 → platinum R$202)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traffic_source: email/direct up for high-value, google/social down</a:t>
            </a:r>
          </a:p>
          <a:p>
            <a:pPr>
              <a:defRPr sz="2000"/>
            </a:pPr>
            <a:r>
              <a:t>  → email R$146 vs google R$89 (+64%)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Result: 13/20 top model features are synthetic behavioral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EDA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Target: Heavily right-skewed (skew=9.37)</a:t>
            </a:r>
          </a:p>
          <a:p>
            <a:pPr>
              <a:defRPr sz="2000"/>
            </a:pPr>
            <a:r>
              <a:t>  Median R$105 | Mean R$160 | Max R$13,664</a:t>
            </a:r>
          </a:p>
          <a:p>
            <a:pPr>
              <a:defRPr sz="2000"/>
            </a:pPr>
            <a:r>
              <a:t>  Log1p transform → skew=0.17 (near-normal)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Top Drivers:</a:t>
            </a:r>
          </a:p>
          <a:p>
            <a:pPr>
              <a:defRPr sz="2000"/>
            </a:pPr>
            <a:r>
              <a:t>  Category:    Computers R$1,251 vs Office R$30 (40×)</a:t>
            </a:r>
          </a:p>
          <a:p>
            <a:pPr>
              <a:defRPr sz="2000"/>
            </a:pPr>
            <a:r>
              <a:t>  Loyalty:     Bronze R$82 → Platinum R$202 (2.5×)</a:t>
            </a:r>
          </a:p>
          <a:p>
            <a:pPr>
              <a:defRPr sz="2000"/>
            </a:pPr>
            <a:r>
              <a:t>  Traffic:     Email R$146 vs Google R$89 (+64%)</a:t>
            </a:r>
          </a:p>
          <a:p>
            <a:pPr>
              <a:defRPr sz="2000"/>
            </a:pPr>
            <a:r>
              <a:t>  Device:      Desktop R$110 vs Mobile R$103 (+7%)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No multicollinearity (|r| &lt; 0.7 for all feature pairs)</a:t>
            </a:r>
          </a:p>
          <a:p>
            <a:pPr>
              <a:defRPr sz="2000"/>
            </a:pPr>
            <a:r>
              <a:t>avg_item_price (r=0.92) flagged as leakage → excluded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Feature Engineering — 180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One-hot encoded (131):  device, browser, OS, traffic, loyalty, category</a:t>
            </a:r>
          </a:p>
          <a:p>
            <a:pPr>
              <a:defRPr sz="2000"/>
            </a:pPr>
            <a:r>
              <a:t>Scaled numerical (40):  income, session metrics, geo, seller, RFM, product</a:t>
            </a:r>
          </a:p>
          <a:p>
            <a:pPr>
              <a:defRPr sz="2000"/>
            </a:pPr>
            <a:r>
              <a:t>Target encoded (3):     ip_region, campaign_name, seller_state</a:t>
            </a:r>
          </a:p>
          <a:p>
            <a:pPr>
              <a:defRPr sz="2000"/>
            </a:pPr>
            <a:r>
              <a:t>Derived (17):           income×loyalty, cart_conversion, distance_per_item</a:t>
            </a:r>
          </a:p>
          <a:p>
            <a:pPr>
              <a:defRPr sz="2000"/>
            </a:pPr>
            <a:r>
              <a:t>Boolean (2):            is_logged_in, is_marketing_opt_in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V2 Additions (6 new data sources):</a:t>
            </a:r>
          </a:p>
          <a:p>
            <a:pPr>
              <a:defRPr sz="2000"/>
            </a:pPr>
            <a:r>
              <a:t>  ✓ Geolocation: haversine distance, urban/rural, regional price index</a:t>
            </a:r>
          </a:p>
          <a:p>
            <a:pPr>
              <a:defRPr sz="2000"/>
            </a:pPr>
            <a:r>
              <a:t>  ✓ Seller: order count, avg price, category specialization</a:t>
            </a:r>
          </a:p>
          <a:p>
            <a:pPr>
              <a:defRPr sz="2000"/>
            </a:pPr>
            <a:r>
              <a:t>  ✓ RFM: customer age, recency, frequency, seasonality</a:t>
            </a:r>
          </a:p>
          <a:p>
            <a:pPr>
              <a:defRPr sz="2000"/>
            </a:pPr>
            <a:r>
              <a:t>  ✓ Product: category avg/std price, order count</a:t>
            </a:r>
          </a:p>
          <a:p>
            <a:pPr>
              <a:defRPr sz="2000"/>
            </a:pPr>
            <a:r>
              <a:t>  ✓ No winsorization (raw value preserved)</a:t>
            </a:r>
          </a:p>
          <a:p>
            <a:pPr>
              <a:defRPr sz="2000"/>
            </a:pPr>
            <a:r>
              <a:t>  ✓ Time-based split (no temporal leakage)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Model Results — Time-Based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Train: orders before 2018-04-01 | Test: orders after</a:t>
            </a:r>
          </a:p>
          <a:p>
            <a:pPr>
              <a:defRPr sz="2000"/>
            </a:pPr>
            <a:r>
              <a:t>Loss: L1 (MAE) for tree models — robust to outliers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Model              R²     MAE(BRL)  WAPE   MedAPE</a:t>
            </a:r>
          </a:p>
          <a:p>
            <a:pPr>
              <a:defRPr sz="2000"/>
            </a:pPr>
            <a:r>
              <a:t>  ─────────────────  ─────  ────────  ─────  ──────</a:t>
            </a:r>
          </a:p>
          <a:p>
            <a:pPr>
              <a:defRPr sz="2000"/>
            </a:pPr>
            <a:r>
              <a:t>  Linear Regression  0.66   R$50      35%    29%</a:t>
            </a:r>
          </a:p>
          <a:p>
            <a:pPr>
              <a:defRPr sz="2000"/>
            </a:pPr>
            <a:r>
              <a:t>  Ridge              0.66   R$50      35%    29%</a:t>
            </a:r>
          </a:p>
          <a:p>
            <a:pPr>
              <a:defRPr sz="2000"/>
            </a:pPr>
            <a:r>
              <a:t>  Lasso              0.53   R$56      40%    35%</a:t>
            </a:r>
          </a:p>
          <a:p>
            <a:pPr>
              <a:defRPr sz="2000"/>
            </a:pPr>
            <a:r>
              <a:t>  Random Forest      0.66   R$45      32%    29%</a:t>
            </a:r>
          </a:p>
          <a:p>
            <a:pPr>
              <a:defRPr sz="2000"/>
            </a:pPr>
            <a:r>
              <a:t>  XGBoost (L1)       0.70   R$43      30%    27%  ← BEST</a:t>
            </a:r>
          </a:p>
          <a:p>
            <a:pPr>
              <a:defRPr sz="2000"/>
            </a:pPr>
            <a:r>
              <a:t>  LightGBM (MAE)     0.69   R$43      30%    27%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XGBoost explains 70% of variance in log-space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Feature Importances — The Aha Moment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13 out of 20 top features are SYNTHETIC behavioral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#1  income × loyalty      14.0%  ← synthetic interaction</a:t>
            </a:r>
          </a:p>
          <a:p>
            <a:pPr>
              <a:defRPr sz="2000"/>
            </a:pPr>
            <a:r>
              <a:t>  #2  n_events               8.8%  ← synthetic</a:t>
            </a:r>
          </a:p>
          <a:p>
            <a:pPr>
              <a:defRPr sz="2000"/>
            </a:pPr>
            <a:r>
              <a:t>  #3  n_add_to_cart          8.8%  ← synthetic</a:t>
            </a:r>
          </a:p>
          <a:p>
            <a:pPr>
              <a:defRPr sz="2000"/>
            </a:pPr>
            <a:r>
              <a:t>  #4  n_product_views        5.2%  ← synthetic</a:t>
            </a:r>
          </a:p>
          <a:p>
            <a:pPr>
              <a:defRPr sz="2000"/>
            </a:pPr>
            <a:r>
              <a:t>  #5  total_cart_qty         5.1%  ← synthetic</a:t>
            </a:r>
          </a:p>
          <a:p>
            <a:pPr>
              <a:defRPr sz="2000"/>
            </a:pPr>
            <a:r>
              <a:t>  #6  payment_installments   3.5%  ← real</a:t>
            </a:r>
          </a:p>
          <a:p>
            <a:pPr>
              <a:defRPr sz="2000"/>
            </a:pPr>
            <a:r>
              <a:t>  #7  category: telephony    2.7%  ← real</a:t>
            </a:r>
          </a:p>
          <a:p>
            <a:pPr>
              <a:defRPr sz="2000"/>
            </a:pPr>
            <a:r>
              <a:t>  #8  log_income             2.6%  ← synthetic</a:t>
            </a:r>
          </a:p>
          <a:p>
            <a:pPr>
              <a:defRPr sz="2000"/>
            </a:pPr>
            <a:r>
              <a:t>  #9  category: electronics  2.4%  ← real</a:t>
            </a:r>
          </a:p>
          <a:p>
            <a:pPr>
              <a:defRPr sz="2000"/>
            </a:pPr>
            <a:r>
              <a:t>  #10 loyalty_tier_bronze    2.3%  ← synthetic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synthetic data isn't just realistic — it's the primary</a:t>
            </a:r>
          </a:p>
          <a:p>
            <a:pPr>
              <a:defRPr sz="2000"/>
            </a:pPr>
            <a:r>
              <a:t>driver of predictive power.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Deployment — FastAPI + Streamlit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API: POST /predict → predicted value + 80% CI</a:t>
            </a:r>
          </a:p>
          <a:p>
            <a:pPr>
              <a:defRPr sz="2000"/>
            </a:pPr>
            <a:r>
              <a:t>  Input: 30+ features (customer, session, cart)</a:t>
            </a:r>
          </a:p>
          <a:p>
            <a:pPr>
              <a:defRPr sz="2000"/>
            </a:pPr>
            <a:r>
              <a:t>  Output: R$ value with confidence interval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Demo Results:</a:t>
            </a:r>
          </a:p>
          <a:p>
            <a:pPr>
              <a:defRPr sz="2000"/>
            </a:pPr>
            <a:r>
              <a:t>  Low profile  (bronze, mobile, 1 item)  → R$83</a:t>
            </a:r>
          </a:p>
          <a:p>
            <a:pPr>
              <a:defRPr sz="2000"/>
            </a:pPr>
            <a:r>
              <a:t>  High profile (platinum, desktop, 5 items) → R$520</a:t>
            </a:r>
          </a:p>
          <a:p>
            <a:pPr>
              <a:defRPr sz="2000"/>
            </a:pPr>
            <a:r>
              <a:t>  Spread: 6.3× — model differentiates profiles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Monitoring: PSI drift detection per feature</a:t>
            </a:r>
          </a:p>
          <a:p>
            <a:pPr>
              <a:defRPr sz="2000"/>
            </a:pPr>
            <a:r>
              <a:t>  Retraining triggers: PSI &gt; 0.25 or WAPE &gt; 35%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Reproducibility: bash run_pipeline.sh (one command)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Business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1. Loyalty Upgrade Campaigns</a:t>
            </a:r>
          </a:p>
          <a:p>
            <a:pPr>
              <a:defRPr sz="2000"/>
            </a:pPr>
            <a:r>
              <a:t>   2.5× AOV spread — target bronze with upgrade incentives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Email Channel Investment</a:t>
            </a:r>
          </a:p>
          <a:p>
            <a:pPr>
              <a:defRPr sz="2000"/>
            </a:pPr>
            <a:r>
              <a:t>   64% AOV premium — email subscribers = high-intent customers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Desktop-Optimized Checkout</a:t>
            </a:r>
          </a:p>
          <a:p>
            <a:pPr>
              <a:defRPr sz="2000"/>
            </a:pPr>
            <a:r>
              <a:t>   7% higher median — invest in desktop UX for high-value categories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4. Real-Time Cart Upsell</a:t>
            </a:r>
          </a:p>
          <a:p>
            <a:pPr>
              <a:defRPr sz="2000"/>
            </a:pPr>
            <a:r>
              <a:t>   Cart additions = #3 feature — trigger recs for low-engagement sessions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5. Income-Based Personalization</a:t>
            </a:r>
          </a:p>
          <a:p>
            <a:pPr>
              <a:defRPr sz="2000"/>
            </a:pPr>
            <a:r>
              <a:t>   income × loyalty = #1 feature — personalize by predicted spending tier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1A1A2E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Limitations:</a:t>
            </a:r>
          </a:p>
          <a:p>
            <a:pPr>
              <a:defRPr sz="2000"/>
            </a:pPr>
            <a:r>
              <a:t>  • Synthetic correlations are simulated, not observed</a:t>
            </a:r>
          </a:p>
          <a:p>
            <a:pPr>
              <a:defRPr sz="2000"/>
            </a:pPr>
            <a:r>
              <a:t>  • KPI targets not met (MAE R$43 vs R$25 target)</a:t>
            </a:r>
          </a:p>
          <a:p>
            <a:pPr>
              <a:defRPr sz="2000"/>
            </a:pPr>
            <a:r>
              <a:t>  • No product-level pricing features</a:t>
            </a:r>
          </a:p>
          <a:p>
            <a:pPr>
              <a:defRPr sz="2000"/>
            </a:pPr>
            <a:r>
              <a:t>  • 97% of customers have only 1 order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Future Work:</a:t>
            </a:r>
          </a:p>
          <a:p>
            <a:pPr>
              <a:defRPr sz="2000"/>
            </a:pPr>
            <a:r>
              <a:t>  • Real clickstream data to validate simulation</a:t>
            </a:r>
          </a:p>
          <a:p>
            <a:pPr>
              <a:defRPr sz="2000"/>
            </a:pPr>
            <a:r>
              <a:t>  • Sequence modeling (LSTM/Transformer) for clickstream</a:t>
            </a:r>
          </a:p>
          <a:p>
            <a:pPr>
              <a:defRPr sz="2000"/>
            </a:pPr>
            <a:r>
              <a:t>  • Feature store for real-time prediction</a:t>
            </a:r>
          </a:p>
          <a:p>
            <a:pPr>
              <a:defRPr sz="2000"/>
            </a:pPr>
            <a:r>
              <a:t>  • Customer lifetime value (CLV) extension</a:t>
            </a:r>
          </a:p>
          <a:p>
            <a:pPr>
              <a:defRPr sz="2000"/>
            </a:pPr>
            <a:r>
              <a:t>  • Product-level pricing from external sources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>
                <a:solidFill>
                  <a:srgbClr val="1A1A2E"/>
                </a:solidFill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0096D6"/>
                </a:solidFill>
              </a:defRPr>
            </a:pPr>
            <a:r>
              <a:t>Questions?</a:t>
            </a:r>
          </a:p>
          <a:p/>
          <a:p>
            <a:r>
              <a:t>Code: github.com/alitonia/customer_value_prediction</a:t>
            </a:r>
          </a:p>
          <a:p>
            <a:r>
              <a:t>Board: github.com/users/alitonia/projects/5</a:t>
            </a:r>
          </a:p>
          <a:p>
            <a:r>
              <a:t>Tag: v1.0.0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